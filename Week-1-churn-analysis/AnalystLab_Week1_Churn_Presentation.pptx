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41" d="100"/>
          <a:sy n="41" d="100"/>
        </p:scale>
        <p:origin x="760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ecious Osagie" userId="54dc0d336682a89e" providerId="LiveId" clId="{90A6AA63-1ED0-4250-9660-A5BE653BE9D3}"/>
    <pc:docChg chg="custSel modSld">
      <pc:chgData name="Precious Osagie" userId="54dc0d336682a89e" providerId="LiveId" clId="{90A6AA63-1ED0-4250-9660-A5BE653BE9D3}" dt="2026-08-06T03:02:18.183" v="23" actId="478"/>
      <pc:docMkLst>
        <pc:docMk/>
      </pc:docMkLst>
      <pc:sldChg chg="delSp modSp mod">
        <pc:chgData name="Precious Osagie" userId="54dc0d336682a89e" providerId="LiveId" clId="{90A6AA63-1ED0-4250-9660-A5BE653BE9D3}" dt="2026-08-06T03:02:18.183" v="23" actId="478"/>
        <pc:sldMkLst>
          <pc:docMk/>
          <pc:sldMk cId="0" sldId="257"/>
        </pc:sldMkLst>
        <pc:spChg chg="del mod">
          <ac:chgData name="Precious Osagie" userId="54dc0d336682a89e" providerId="LiveId" clId="{90A6AA63-1ED0-4250-9660-A5BE653BE9D3}" dt="2026-08-06T03:02:18.183" v="23" actId="478"/>
          <ac:spMkLst>
            <pc:docMk/>
            <pc:sldMk cId="0" sldId="257"/>
            <ac:spMk id="20" creationId="{00000000-0000-0000-0000-000000000000}"/>
          </ac:spMkLst>
        </pc:spChg>
      </pc:sldChg>
      <pc:sldChg chg="delSp modSp mod">
        <pc:chgData name="Precious Osagie" userId="54dc0d336682a89e" providerId="LiveId" clId="{90A6AA63-1ED0-4250-9660-A5BE653BE9D3}" dt="2026-08-06T03:02:12.998" v="21" actId="478"/>
        <pc:sldMkLst>
          <pc:docMk/>
          <pc:sldMk cId="0" sldId="258"/>
        </pc:sldMkLst>
        <pc:spChg chg="del mod">
          <ac:chgData name="Precious Osagie" userId="54dc0d336682a89e" providerId="LiveId" clId="{90A6AA63-1ED0-4250-9660-A5BE653BE9D3}" dt="2026-08-06T03:02:12.998" v="21" actId="478"/>
          <ac:spMkLst>
            <pc:docMk/>
            <pc:sldMk cId="0" sldId="258"/>
            <ac:spMk id="23" creationId="{00000000-0000-0000-0000-000000000000}"/>
          </ac:spMkLst>
        </pc:spChg>
      </pc:sldChg>
      <pc:sldChg chg="delSp modSp mod">
        <pc:chgData name="Precious Osagie" userId="54dc0d336682a89e" providerId="LiveId" clId="{90A6AA63-1ED0-4250-9660-A5BE653BE9D3}" dt="2026-08-06T03:02:09.211" v="19" actId="478"/>
        <pc:sldMkLst>
          <pc:docMk/>
          <pc:sldMk cId="0" sldId="259"/>
        </pc:sldMkLst>
        <pc:spChg chg="del mod">
          <ac:chgData name="Precious Osagie" userId="54dc0d336682a89e" providerId="LiveId" clId="{90A6AA63-1ED0-4250-9660-A5BE653BE9D3}" dt="2026-08-06T03:02:09.211" v="19" actId="478"/>
          <ac:spMkLst>
            <pc:docMk/>
            <pc:sldMk cId="0" sldId="259"/>
            <ac:spMk id="17" creationId="{00000000-0000-0000-0000-000000000000}"/>
          </ac:spMkLst>
        </pc:spChg>
      </pc:sldChg>
      <pc:sldChg chg="delSp modSp mod">
        <pc:chgData name="Precious Osagie" userId="54dc0d336682a89e" providerId="LiveId" clId="{90A6AA63-1ED0-4250-9660-A5BE653BE9D3}" dt="2026-08-06T03:02:04.603" v="17" actId="478"/>
        <pc:sldMkLst>
          <pc:docMk/>
          <pc:sldMk cId="0" sldId="260"/>
        </pc:sldMkLst>
        <pc:spChg chg="del mod">
          <ac:chgData name="Precious Osagie" userId="54dc0d336682a89e" providerId="LiveId" clId="{90A6AA63-1ED0-4250-9660-A5BE653BE9D3}" dt="2026-08-06T03:02:04.603" v="17" actId="478"/>
          <ac:spMkLst>
            <pc:docMk/>
            <pc:sldMk cId="0" sldId="260"/>
            <ac:spMk id="8" creationId="{00000000-0000-0000-0000-000000000000}"/>
          </ac:spMkLst>
        </pc:spChg>
      </pc:sldChg>
      <pc:sldChg chg="delSp modSp mod">
        <pc:chgData name="Precious Osagie" userId="54dc0d336682a89e" providerId="LiveId" clId="{90A6AA63-1ED0-4250-9660-A5BE653BE9D3}" dt="2026-08-06T03:02:00.362" v="15" actId="478"/>
        <pc:sldMkLst>
          <pc:docMk/>
          <pc:sldMk cId="0" sldId="261"/>
        </pc:sldMkLst>
        <pc:spChg chg="del mod">
          <ac:chgData name="Precious Osagie" userId="54dc0d336682a89e" providerId="LiveId" clId="{90A6AA63-1ED0-4250-9660-A5BE653BE9D3}" dt="2026-08-06T03:02:00.362" v="15" actId="478"/>
          <ac:spMkLst>
            <pc:docMk/>
            <pc:sldMk cId="0" sldId="261"/>
            <ac:spMk id="9" creationId="{00000000-0000-0000-0000-000000000000}"/>
          </ac:spMkLst>
        </pc:spChg>
      </pc:sldChg>
      <pc:sldChg chg="delSp modSp mod">
        <pc:chgData name="Precious Osagie" userId="54dc0d336682a89e" providerId="LiveId" clId="{90A6AA63-1ED0-4250-9660-A5BE653BE9D3}" dt="2026-08-06T03:01:55.505" v="13" actId="478"/>
        <pc:sldMkLst>
          <pc:docMk/>
          <pc:sldMk cId="0" sldId="262"/>
        </pc:sldMkLst>
        <pc:spChg chg="del mod">
          <ac:chgData name="Precious Osagie" userId="54dc0d336682a89e" providerId="LiveId" clId="{90A6AA63-1ED0-4250-9660-A5BE653BE9D3}" dt="2026-08-06T03:01:55.505" v="13" actId="478"/>
          <ac:spMkLst>
            <pc:docMk/>
            <pc:sldMk cId="0" sldId="262"/>
            <ac:spMk id="7" creationId="{00000000-0000-0000-0000-000000000000}"/>
          </ac:spMkLst>
        </pc:spChg>
      </pc:sldChg>
      <pc:sldChg chg="delSp modSp mod">
        <pc:chgData name="Precious Osagie" userId="54dc0d336682a89e" providerId="LiveId" clId="{90A6AA63-1ED0-4250-9660-A5BE653BE9D3}" dt="2026-08-06T03:01:50.307" v="11" actId="478"/>
        <pc:sldMkLst>
          <pc:docMk/>
          <pc:sldMk cId="0" sldId="263"/>
        </pc:sldMkLst>
        <pc:spChg chg="del mod">
          <ac:chgData name="Precious Osagie" userId="54dc0d336682a89e" providerId="LiveId" clId="{90A6AA63-1ED0-4250-9660-A5BE653BE9D3}" dt="2026-08-06T03:01:50.307" v="11" actId="478"/>
          <ac:spMkLst>
            <pc:docMk/>
            <pc:sldMk cId="0" sldId="263"/>
            <ac:spMk id="13" creationId="{00000000-0000-0000-0000-000000000000}"/>
          </ac:spMkLst>
        </pc:spChg>
      </pc:sldChg>
      <pc:sldChg chg="delSp modSp mod">
        <pc:chgData name="Precious Osagie" userId="54dc0d336682a89e" providerId="LiveId" clId="{90A6AA63-1ED0-4250-9660-A5BE653BE9D3}" dt="2026-08-06T03:01:44.175" v="9" actId="478"/>
        <pc:sldMkLst>
          <pc:docMk/>
          <pc:sldMk cId="0" sldId="264"/>
        </pc:sldMkLst>
        <pc:spChg chg="del mod">
          <ac:chgData name="Precious Osagie" userId="54dc0d336682a89e" providerId="LiveId" clId="{90A6AA63-1ED0-4250-9660-A5BE653BE9D3}" dt="2026-08-06T03:01:44.175" v="9" actId="478"/>
          <ac:spMkLst>
            <pc:docMk/>
            <pc:sldMk cId="0" sldId="264"/>
            <ac:spMk id="18" creationId="{00000000-0000-0000-0000-000000000000}"/>
          </ac:spMkLst>
        </pc:spChg>
      </pc:sldChg>
      <pc:sldChg chg="delSp modSp mod">
        <pc:chgData name="Precious Osagie" userId="54dc0d336682a89e" providerId="LiveId" clId="{90A6AA63-1ED0-4250-9660-A5BE653BE9D3}" dt="2026-08-06T03:01:35.407" v="6" actId="478"/>
        <pc:sldMkLst>
          <pc:docMk/>
          <pc:sldMk cId="0" sldId="265"/>
        </pc:sldMkLst>
        <pc:spChg chg="del mod">
          <ac:chgData name="Precious Osagie" userId="54dc0d336682a89e" providerId="LiveId" clId="{90A6AA63-1ED0-4250-9660-A5BE653BE9D3}" dt="2026-08-06T03:01:35.407" v="6" actId="478"/>
          <ac:spMkLst>
            <pc:docMk/>
            <pc:sldMk cId="0" sldId="265"/>
            <ac:spMk id="9" creationId="{00000000-0000-0000-0000-000000000000}"/>
          </ac:spMkLst>
        </pc:spChg>
      </pc:sldChg>
      <pc:sldChg chg="delSp modSp mod">
        <pc:chgData name="Precious Osagie" userId="54dc0d336682a89e" providerId="LiveId" clId="{90A6AA63-1ED0-4250-9660-A5BE653BE9D3}" dt="2026-08-06T03:01:30.355" v="4" actId="478"/>
        <pc:sldMkLst>
          <pc:docMk/>
          <pc:sldMk cId="0" sldId="266"/>
        </pc:sldMkLst>
        <pc:spChg chg="del mod">
          <ac:chgData name="Precious Osagie" userId="54dc0d336682a89e" providerId="LiveId" clId="{90A6AA63-1ED0-4250-9660-A5BE653BE9D3}" dt="2026-08-06T03:01:30.355" v="4" actId="478"/>
          <ac:spMkLst>
            <pc:docMk/>
            <pc:sldMk cId="0" sldId="266"/>
            <ac:spMk id="33" creationId="{00000000-0000-0000-0000-000000000000}"/>
          </ac:spMkLst>
        </pc:spChg>
      </pc:sldChg>
      <pc:sldChg chg="delSp modSp mod">
        <pc:chgData name="Precious Osagie" userId="54dc0d336682a89e" providerId="LiveId" clId="{90A6AA63-1ED0-4250-9660-A5BE653BE9D3}" dt="2026-08-06T03:01:16.415" v="1" actId="478"/>
        <pc:sldMkLst>
          <pc:docMk/>
          <pc:sldMk cId="0" sldId="267"/>
        </pc:sldMkLst>
        <pc:spChg chg="del mod">
          <ac:chgData name="Precious Osagie" userId="54dc0d336682a89e" providerId="LiveId" clId="{90A6AA63-1ED0-4250-9660-A5BE653BE9D3}" dt="2026-08-06T03:01:16.415" v="1" actId="478"/>
          <ac:spMkLst>
            <pc:docMk/>
            <pc:sldMk cId="0" sldId="267"/>
            <ac:spMk id="6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Churn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3A8C-4CD3-AC3D-A69FC96BF1E6}"/>
              </c:ext>
            </c:extLst>
          </c:dPt>
          <c:dPt>
            <c:idx val="1"/>
            <c:bubble3D val="0"/>
            <c:spPr>
              <a:solidFill>
                <a:srgbClr val="E457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A8C-4CD3-AC3D-A69FC96BF1E6}"/>
              </c:ext>
            </c:extLst>
          </c:dPt>
          <c:dLbls>
            <c:dLbl>
              <c:idx val="0"/>
              <c:numFmt formatCode="0.0&quot;%&quot;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A8C-4CD3-AC3D-A69FC96BF1E6}"/>
                </c:ext>
              </c:extLst>
            </c:dLbl>
            <c:dLbl>
              <c:idx val="1"/>
              <c:numFmt formatCode="0.0&quot;%&quot;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A8C-4CD3-AC3D-A69FC96BF1E6}"/>
                </c:ext>
              </c:extLst>
            </c:dLbl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Retained</c:v>
                </c:pt>
                <c:pt idx="1">
                  <c:v>Churned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73.5</c:v>
                </c:pt>
                <c:pt idx="1">
                  <c:v>26.5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A8C-4CD3-AC3D-A69FC96BF1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A1A2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Contract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457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249-4A27-8868-2E15A00F7DA5}"/>
              </c:ext>
            </c:extLst>
          </c:dPt>
          <c:dPt>
            <c:idx val="1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249-4A27-8868-2E15A00F7DA5}"/>
              </c:ext>
            </c:extLst>
          </c:dPt>
          <c:dPt>
            <c:idx val="2"/>
            <c:bubble3D val="0"/>
            <c:spPr>
              <a:solidFill>
                <a:srgbClr val="065A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249-4A27-8868-2E15A00F7DA5}"/>
              </c:ext>
            </c:extLst>
          </c:dPt>
          <c:dLbls>
            <c:dLbl>
              <c:idx val="0"/>
              <c:numFmt formatCode="0.0&quot;%&quot;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249-4A27-8868-2E15A00F7DA5}"/>
                </c:ext>
              </c:extLst>
            </c:dLbl>
            <c:dLbl>
              <c:idx val="1"/>
              <c:numFmt formatCode="0.0&quot;%&quot;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249-4A27-8868-2E15A00F7DA5}"/>
                </c:ext>
              </c:extLst>
            </c:dLbl>
            <c:dLbl>
              <c:idx val="2"/>
              <c:numFmt formatCode="0.0&quot;%&quot;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249-4A27-8868-2E15A00F7DA5}"/>
                </c:ext>
              </c:extLst>
            </c:dLbl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Month-to-month</c:v>
                </c:pt>
                <c:pt idx="1">
                  <c:v>Two year</c:v>
                </c:pt>
                <c:pt idx="2">
                  <c:v>One year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24.1</c:v>
                </c:pt>
                <c:pt idx="2">
                  <c:v>20.9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249-4A27-8868-2E15A00F7DA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A1A2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 Rate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Month-to-month</c:v>
                </c:pt>
                <c:pt idx="1">
                  <c:v>One year</c:v>
                </c:pt>
                <c:pt idx="2">
                  <c:v>Two year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42.7</c:v>
                </c:pt>
                <c:pt idx="1">
                  <c:v>11.3</c:v>
                </c:pt>
                <c:pt idx="2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293-4209-89EB-505B34238A4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7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Churn Rate (%)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Fibre optic</c:v>
                </c:pt>
                <c:pt idx="1">
                  <c:v>DSL</c:v>
                </c:pt>
                <c:pt idx="2">
                  <c:v>No internet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41.9</c:v>
                </c:pt>
                <c:pt idx="1">
                  <c:v>19</c:v>
                </c:pt>
                <c:pt idx="2">
                  <c:v>7.4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C67-417C-9791-3359BC6A1E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4E7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Electronic check</c:v>
                </c:pt>
                <c:pt idx="1">
                  <c:v>Mailed check</c:v>
                </c:pt>
                <c:pt idx="2">
                  <c:v>Bank transfer</c:v>
                </c:pt>
                <c:pt idx="3">
                  <c:v>Credit card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</c:v>
                </c:pt>
                <c:pt idx="1">
                  <c:v>19.100000000000001</c:v>
                </c:pt>
                <c:pt idx="2">
                  <c:v>16.7</c:v>
                </c:pt>
                <c:pt idx="3">
                  <c:v>15.2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8B8-49B1-B410-42DF78F2EC8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4E7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0255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ANALYTICS CASE STUDY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9601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Behaviour &amp; Business</a:t>
            </a:r>
            <a:endParaRPr lang="en-US" sz="4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Analysis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37490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Investigating customer churn for ABC Communications Ltd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4846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Osagie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Osagieduwa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Precious</a:t>
            </a:r>
          </a:p>
        </p:txBody>
      </p:sp>
      <p:sp>
        <p:nvSpPr>
          <p:cNvPr id="9" name="Text 7"/>
          <p:cNvSpPr/>
          <p:nvPr/>
        </p:nvSpPr>
        <p:spPr>
          <a:xfrm>
            <a:off x="822960" y="5166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Junior Data Analyst, AnalystLab Africa Consulting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5486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AnalystLab Africa — Data Analytics Internship, Week 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Scenario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4805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6868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ABC Communications Ltd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telecommunications provider offering phone, DSL and fibre-optic internet, plus value-added services such as online security, tech support, and streaming.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37947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ENGAGEMENT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AnalystLab Africa Consulting was engaged to investigate customer churn and provide business insights that support customer retention strategies.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5349240" cy="4480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629400" y="2286000"/>
            <a:ext cx="109728" cy="10972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/>
          <p:nvPr/>
        </p:nvSpPr>
        <p:spPr>
          <a:xfrm>
            <a:off x="6903720" y="21488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erosion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903720" y="2542032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churned customer removes recurring monthly revenue and wastes acquisition cost.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629400" y="3474720"/>
            <a:ext cx="109728" cy="10972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/>
          <p:nvPr/>
        </p:nvSpPr>
        <p:spPr>
          <a:xfrm>
            <a:off x="6903720" y="3337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switching cost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03720" y="3730752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is saturated, with few barriers stopping customers from leaving for a competitor.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29400" y="4663440"/>
            <a:ext cx="109728" cy="10972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8" name="Text 16"/>
          <p:cNvSpPr/>
          <p:nvPr/>
        </p:nvSpPr>
        <p:spPr>
          <a:xfrm>
            <a:off x="6903720" y="4526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Lifetime value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903720" y="4919472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Long-tenured customers are far more profitable — early churn is the costliest kind.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of This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2697480" cy="40233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9202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743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 the Data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47472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the structure and quality of the customer dataset before drawing conclusions.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74720" y="1645920"/>
            <a:ext cx="2697480" cy="40233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3749040" y="19202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374904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703320" y="2743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Segments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703320" y="347472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which customer segments show the highest churn risk.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645920"/>
            <a:ext cx="2697480" cy="40233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6675120" y="19202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29400" y="2743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Visualise Patterns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29400" y="347472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raw numbers into charts stakeholders can act on.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326880" y="1645920"/>
            <a:ext cx="2697480" cy="40233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0" y="19202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555480" y="2743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 Action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555480" y="347472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findings into concrete retention strategies for ABC Communications.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at a Glance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97480" cy="17373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9164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7,043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records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74720" y="1554480"/>
            <a:ext cx="2697480" cy="17373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0" y="169164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474720" y="25603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columns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2697480" cy="17373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169164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400800" y="25603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records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326880" y="1554480"/>
            <a:ext cx="2697480" cy="1737360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0" y="169164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26.5%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326880" y="25603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churn rate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NOTES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97764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sourced from Kaggle's Telco Customer Churn dataset (blastchar).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missing values or duplicate customer IDs found.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TotalCharges was stored as text with 11 blank entries — all belonged to brand-new customers (tenure = 0) and were converted and filled with 0.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variable (Churn) is imbalanced: 73.5% retained vs. 26.5% churned.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Are ABC Communications' Customers?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Overall Churn</a:t>
            </a:r>
            <a:endParaRPr lang="en-US" sz="1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737360"/>
          <a:ext cx="53035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371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Mix</a:t>
            </a:r>
            <a:endParaRPr lang="en-US" sz="1600" dirty="0"/>
          </a:p>
        </p:txBody>
      </p:sp>
      <p:graphicFrame>
        <p:nvGraphicFramePr>
          <p:cNvPr id="6" name="Chart 1"/>
          <p:cNvGraphicFramePr/>
          <p:nvPr/>
        </p:nvGraphicFramePr>
        <p:xfrm>
          <a:off x="6309360" y="1737360"/>
          <a:ext cx="53035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quarter of the customer base has already churned — and 55% sit on flexible month-to-month contracts, the segment we'll show carries the highest risk.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Length Is the Strongest Churn Driver</a:t>
            </a:r>
            <a:endParaRPr lang="en-US" sz="30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548640" y="1463040"/>
          <a:ext cx="667512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463040"/>
            <a:ext cx="4160520" cy="42062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" name="Text 2"/>
          <p:cNvSpPr/>
          <p:nvPr/>
        </p:nvSpPr>
        <p:spPr>
          <a:xfrm>
            <a:off x="7772400" y="17373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~15x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7772400" y="25146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churn risk for month-to-month vs. two-year contract customers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772400" y="3566160"/>
            <a:ext cx="3246120" cy="0"/>
          </a:xfrm>
          <a:prstGeom prst="line">
            <a:avLst/>
          </a:prstGeom>
          <a:noFill/>
          <a:ln w="12700">
            <a:solidFill>
              <a:srgbClr val="D5DAE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0" y="379476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customers churn at 42.7%, versus 11.3% for one-year and just 2.8% for two-year contracts.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Fibre Customers and Manual Payers Churn Most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Churn Rate by Internet Service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783080"/>
          <a:ext cx="530352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371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Churn Rate by Payment Method</a:t>
            </a:r>
            <a:endParaRPr lang="en-US" sz="1400" dirty="0"/>
          </a:p>
        </p:txBody>
      </p:sp>
      <p:graphicFrame>
        <p:nvGraphicFramePr>
          <p:cNvPr id="6" name="Chart 1"/>
          <p:cNvGraphicFramePr/>
          <p:nvPr/>
        </p:nvGraphicFramePr>
        <p:xfrm>
          <a:off x="6309360" y="1783080"/>
          <a:ext cx="530352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Customers and Higher Spenders Are at Greater Risk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03520" cy="42062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TENURE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18.0 mo</a:t>
            </a:r>
            <a:r>
              <a:rPr lang="en-US" sz="1400" dirty="0">
                <a:solidFill>
                  <a:srgbClr val="5A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churned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37.6 mo</a:t>
            </a:r>
            <a:r>
              <a:rPr lang="en-US" sz="1400" dirty="0">
                <a:solidFill>
                  <a:srgbClr val="5A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retained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Churned customers leave, on average, after little more than a year and a half — while loyal customers stay over three years. Churn risk is concentrated heavily in the first 12 months.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303520" cy="42062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" name="Text 7"/>
          <p:cNvSpPr/>
          <p:nvPr/>
        </p:nvSpPr>
        <p:spPr>
          <a:xfrm>
            <a:off x="667512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MONTHLY CHARGES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75120" y="21488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$74.44</a:t>
            </a:r>
            <a:r>
              <a:rPr lang="en-US" sz="1400" dirty="0">
                <a:solidFill>
                  <a:srgbClr val="5A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churned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6751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$61.27</a:t>
            </a:r>
            <a:r>
              <a:rPr lang="en-US" sz="1400" dirty="0">
                <a:solidFill>
                  <a:srgbClr val="5A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retained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675120" y="361188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Churned customers pay noticeably more per month on average. Combined with the fibre-optic finding, price sensitivity on premium services appears to be a real friction point.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25880" y="137160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length is the single strongest churn predictor — a ~15x gap between month-to-month and two-year customers.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25880" y="228600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Fibre optic customers churn nearly 2x the company average, despite being the premium product line.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320040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check payers churn at 45.3% — dramatically higher than any automatic payment method.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1605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25880" y="411480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is protective — churned customers average 18.0 months versus 37.6 for retained customers.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502920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without add-on protection (Online Security, Tech Support) churn far more than those with it.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&amp; Opportunities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4297680"/>
          </a:xfrm>
          <a:prstGeom prst="rect">
            <a:avLst/>
          </a:prstGeom>
          <a:solidFill>
            <a:srgbClr val="FBEDEA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RISKS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concentration: 55% of the base sits in the highest-risk (month-to-month) contract tier.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product erosion: high churn on fibre optic threatens the most valuable revenue segment.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Early-tenure attrition: many new customers churn before acquisition cost is recovered.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94960" cy="4297680"/>
          </a:xfrm>
          <a:prstGeom prst="rect">
            <a:avLst/>
          </a:prstGeom>
          <a:solidFill>
            <a:srgbClr val="E9F3F1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OPPORTUNITIES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0" y="210312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upgrade incentives: converting month-to-month customers could meaningfully cut churn.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 service bundling: Online Security and Tech Support correlate with ~26-point lower churn.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migration: shifting Electronic check users to automatic payment reduces high-risk exposure.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21488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" y="171907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190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04672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Contract-conversion campaign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281635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Discounts or perks for month-to-month customers switching to 1- or 2-year contracts, prioritising the first 12 months.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463040"/>
            <a:ext cx="3566160" cy="21488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0" y="171907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7190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72000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the fibre experience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281635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pricing, service quality and competitor offers for fibre customers specifically.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83296" y="1463040"/>
            <a:ext cx="3566160" cy="21488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8339328" y="171907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8339328" y="17190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339328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Shift payment methods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39328" y="281635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Incentivise Electronic check users to enrol in automatic bank transfer or credit card payment.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886200"/>
            <a:ext cx="3566160" cy="21488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9" name="Shape 17"/>
          <p:cNvSpPr/>
          <p:nvPr/>
        </p:nvSpPr>
        <p:spPr>
          <a:xfrm>
            <a:off x="804672" y="414223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4142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04672" y="4754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Bundle protection services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672" y="52395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Online Security &amp; Tech Support at low/no cost during onboarding for new customers.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15968" y="3886200"/>
            <a:ext cx="3566160" cy="21488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0" y="414223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0" y="4142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4572000" y="4754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First-90-days retention programme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0" y="52395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check-ins and early-tenure discounts to address the concentration of new-customer churn.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83296" y="3886200"/>
            <a:ext cx="3566160" cy="21488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9" name="Shape 27"/>
          <p:cNvSpPr/>
          <p:nvPr/>
        </p:nvSpPr>
        <p:spPr>
          <a:xfrm>
            <a:off x="8339328" y="414223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8339328" y="4142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339328" y="4754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churn-risk score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339328" y="52395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contract type, tenure, internet service and payment method to flag at-risk customers early.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10241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Acting on Contract Structure, Payment Method,</a:t>
            </a:r>
            <a:endParaRPr lang="en-US" sz="3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Service Bundling Is the Clearest Path to</a:t>
            </a:r>
            <a:endParaRPr lang="en-US" sz="3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Reducing Churn Below 26.5%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AnalystLab Africa Consulting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846</Words>
  <Application>Microsoft Office PowerPoint</Application>
  <PresentationFormat>Widescreen</PresentationFormat>
  <Paragraphs>138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Precious Osagie</cp:lastModifiedBy>
  <cp:revision>2</cp:revision>
  <dcterms:created xsi:type="dcterms:W3CDTF">2026-08-05T08:11:53Z</dcterms:created>
  <dcterms:modified xsi:type="dcterms:W3CDTF">2026-08-06T03:02:24Z</dcterms:modified>
</cp:coreProperties>
</file>