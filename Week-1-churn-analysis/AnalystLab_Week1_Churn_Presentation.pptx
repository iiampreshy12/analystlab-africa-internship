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8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A8C-4CD3-AC3D-A69FC96BF1E6}"/>
              </c:ext>
            </c:extLst>
          </c:dPt>
          <c:dPt>
            <c:idx val="1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8C-4CD3-AC3D-A69FC96BF1E6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8C-4CD3-AC3D-A69FC96BF1E6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8C-4CD3-AC3D-A69FC96BF1E6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Retained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73.5</c:v>
                </c:pt>
                <c:pt idx="1">
                  <c:v>26.5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8C-4CD3-AC3D-A69FC96BF1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249-4A27-8868-2E15A00F7DA5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49-4A27-8868-2E15A00F7DA5}"/>
              </c:ext>
            </c:extLst>
          </c:dPt>
          <c:dPt>
            <c:idx val="2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49-4A27-8868-2E15A00F7DA5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49-4A27-8868-2E15A00F7DA5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249-4A27-8868-2E15A00F7DA5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249-4A27-8868-2E15A00F7DA5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Two year</c:v>
                </c:pt>
                <c:pt idx="2">
                  <c:v>One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24.1</c:v>
                </c:pt>
                <c:pt idx="2">
                  <c:v>20.9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249-4A27-8868-2E15A00F7D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93-4209-89EB-505B34238A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Churn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Fibre optic</c:v>
                </c:pt>
                <c:pt idx="1">
                  <c:v>DSL</c:v>
                </c:pt>
                <c:pt idx="2">
                  <c:v>No internet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</c:v>
                </c:pt>
                <c:pt idx="2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67-417C-9791-3359BC6A1E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 check</c:v>
                </c:pt>
                <c:pt idx="1">
                  <c:v>Mailed check</c:v>
                </c:pt>
                <c:pt idx="2">
                  <c:v>Bank transfer</c:v>
                </c:pt>
                <c:pt idx="3">
                  <c:v>Credit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45.3</c:v>
                </c:pt>
                <c:pt idx="1">
                  <c:v>19.100000000000001</c:v>
                </c:pt>
                <c:pt idx="2">
                  <c:v>16.7</c:v>
                </c:pt>
                <c:pt idx="3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B8-49B1-B410-42DF78F2EC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255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Behaviour &amp; Business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customer churn for ABC Communications Ltd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Osagie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Osagieduwa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Precious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Analyst, AnalystLab Africa Consulting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— Data Analytics Internship, Week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Scenario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480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 Communications Ltd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telecommunications provider offering phone, DSL and fibre-optic internet, plus value-added services such as online security, tech support, and streaming.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Consulting was engaged to investigate customer churn and provide business insights that support customer retention strategies.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49240" cy="4480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2286000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erosion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25420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churned customer removes recurring monthly revenue and wastes acquisition cost.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3474720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switching cost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7307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is saturated, with few barriers stopping customers from leaving for a competitor.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4663440"/>
            <a:ext cx="109728" cy="1097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Lifetime value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49194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Long-tenured customers are far more profitable — early churn is the costliest kind.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This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697480" cy="4023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structure and quality of the customer dataset before drawing conclusions.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697480" cy="4023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374904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0332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Segments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34747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customer segments show the highest churn risk.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2697480" cy="4023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 Patterns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34747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numbers into charts stakeholders can act 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26880" y="1645920"/>
            <a:ext cx="2697480" cy="4023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5548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Action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55480" y="347472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concrete retention strategies for ABC Communications.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1737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697480" cy="1737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6916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2560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2697480" cy="17373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916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26880" y="1554480"/>
            <a:ext cx="2697480" cy="173736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0" y="16916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326880" y="2560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sourced from Kaggle's Telco Customer Churn dataset (blastchar).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or duplicate customer IDs found.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was stored as text with 11 blank entries — all belonged to brand-new customers (tenure = 0) and were converted and filled with 0.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(Churn) is imbalanced: 73.5% retained vs. 26.5% churned.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ABC Communications' Customers?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Churn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Mix</a:t>
            </a:r>
            <a:endParaRPr lang="en-US" sz="16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309360" y="17373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 of the customer base has already churned — and 55% sit on flexible month-to-month contracts, the segment we'll show carries the highest risk.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Length Is the Strongest Churn Driver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630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1463040"/>
            <a:ext cx="4160520" cy="4206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~15x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772400" y="25146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churn risk for month-to-month vs. two-year contract customers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72400" y="3566160"/>
            <a:ext cx="3246120" cy="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7947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42.7%, versus 11.3% for one-year and just 2.8% for two-year contracts.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Fibre Customers and Manual Payers Churn Most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by Internet Service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by Payment Method</a:t>
            </a:r>
            <a:endParaRPr lang="en-US" sz="14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309360" y="178308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Customers and Higher Spenders Are at Greater Risk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4206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18.0 mo</a:t>
            </a:r>
            <a:r>
              <a:rPr lang="en-US" sz="1400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churned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37.6 mo</a:t>
            </a:r>
            <a:r>
              <a:rPr lang="en-US" sz="1400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retained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leave, on average, after little more than a year and a half — while loyal customers stay over three years. Churn risk is concentrated heavily in the first 12 months.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206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CHARGES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$74.44</a:t>
            </a:r>
            <a:r>
              <a:rPr lang="en-US" sz="1400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churned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$61.27</a:t>
            </a:r>
            <a:r>
              <a:rPr lang="en-US" sz="1400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retained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675120" y="36118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 noticeably more per month on average. Combined with the fibre-optic finding, price sensitivity on premium services appears to be a real friction point.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length is the single strongest churn predictor — a ~15x gap between month-to-month and two-year customers.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2860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optic customers churn nearly 2x the company average, despite being the premium product line.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2004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churn at 45.3% — dramatically higher than any automatic payment method.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1148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is protective — churned customers average 18.0 months versus 37.6 for retained customers.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50292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add-on protection (Online Security, Tech Support) churn far more than those with it.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Opportunities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297680"/>
          </a:xfrm>
          <a:prstGeom prst="rect">
            <a:avLst/>
          </a:prstGeom>
          <a:solidFill>
            <a:srgbClr val="FBEDE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concentration: 55% of the base sits in the highest-risk (month-to-month) contract tier.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product erosion: high churn on fibre optic threatens the most valuable revenue segment.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Early-tenure attrition: many new customers churn before acquisition cost is recovered.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94960" cy="4297680"/>
          </a:xfrm>
          <a:prstGeom prst="rect">
            <a:avLst/>
          </a:prstGeom>
          <a:solidFill>
            <a:srgbClr val="E9F3F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OPPORTUNITIES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upgrade incentives: converting month-to-month customers could meaningfully cut churn.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service bundling: Online Security and Tech Support correlate with ~26-point lower churn.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migration: shifting Electronic check users to automatic payment reduces high-risk exposure.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719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Contract-conversion campaign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8163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or perks for month-to-month customers switching to 1- or 2-year contracts, prioritising the first 12 months.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463040"/>
            <a:ext cx="356616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719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fibre experience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8163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pricing, service quality and competitor offers for fibre customers specifically.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1463040"/>
            <a:ext cx="356616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339328" y="1719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9328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payment methods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28163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Electronic check users to enrol in automatic bank transfer or credit card payment.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56616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04672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protection services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52395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Online Security &amp; Tech Support at low/no cost during onboarding for new customers.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15968" y="3886200"/>
            <a:ext cx="356616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4142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First-90-days retention programme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52395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check-ins and early-tenure discounts to address the concentration of new-customer churn.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83296" y="3886200"/>
            <a:ext cx="3566160" cy="2148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9" name="Shape 27"/>
          <p:cNvSpPr/>
          <p:nvPr/>
        </p:nvSpPr>
        <p:spPr>
          <a:xfrm>
            <a:off x="8339328" y="4142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339328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39328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churn-risk score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39328" y="52395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contract type, tenure, internet service and payment method to flag at-risk customers early.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ABC Communications Ltd — Churn Analysis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Acting on Contract Structure, Payment Method,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Service Bundling Is the Clearest Path to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Churn Below 26.5%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AnalystLab Africa Consulting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Osagie Osagieduwa Precious (Preshy)  |  Junior Data Analyst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Microsoft Office PowerPoint</Application>
  <PresentationFormat>Widescreen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Precious Osagie</cp:lastModifiedBy>
  <cp:revision>2</cp:revision>
  <dcterms:created xsi:type="dcterms:W3CDTF">2026-08-05T08:11:53Z</dcterms:created>
  <dcterms:modified xsi:type="dcterms:W3CDTF">2026-08-05T09:05:09Z</dcterms:modified>
</cp:coreProperties>
</file>